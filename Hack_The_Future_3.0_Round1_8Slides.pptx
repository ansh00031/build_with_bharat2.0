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310896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CRITERION 1 • PROBLEM STATEMENT &amp; FUTURE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$65B Broken OS Support Model: Diagnostic Paralysis in the Autonomous Era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Legacy IT support relies on manual triage, opaque hex logs, and destructive blind scripts costing $65B+ annually.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29260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01 | Opaque Hex Codes &amp; Log Deluge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Cryptic Hex Errors: Win32/NTSTATUS codes like 0x80070005 (Access Denied) or 0x80240020 give zero actionable context to users or admins.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Event Log Avalanche: Windows Event Viewer emits 100,000+ noisy unindexed events daily with severed causal chains and unhelpful dumps.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Context Blindness: Diagnosticians cannot verify whether failures stem from file locks, broken ACLs, corrupt registry keys, or missing DLLs.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91640"/>
            <a:ext cx="3429000" cy="29260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28600"/>
          <a:lstStyle/>
          <a:p>
            <a:pPr algn="ctr">
              <a:defRPr sz="1300" b="1">
                <a:solidFill>
                  <a:srgbClr val="EC4899"/>
                </a:solidFill>
              </a:defRPr>
            </a:pPr>
            <a:r>
              <a:t>02 | The $65B Drain &amp; IT Helpdesk Fatigue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$65B Global Support Burden: Enterprise IT helpdesks spend over 3.5 hours Mean-Time-to-Recovery (MTTR) per critical endpoint incident.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72% Repetitive Tier-1/2 Volume: Support engineers are flooded with identical Windows Update, profile corruption, and dependency tickets.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$4,500/Year/Seat Lost: Productivity collapses as knowledge workers sit idle in multi-day support escalation queues waiting for technician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691640"/>
            <a:ext cx="3429000" cy="29260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28600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03 | Cargo-Cult Scripting &amp; Bricking Risk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Blind StackOverflow Pasting: Users copy unverified PowerShell/cmd scripts (`sfc /scannow`, `reg delete`, `takeown`) without knowing side effects.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Zero Pre-Fix State Capture: Traditional repair scripts mutate registry hives and file systems irreversibly without rollback safety.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Disruptive OS Re-Imaging: When blind fixes fail, the only IT recourse is wiping the device—losing local setups, developer tools, and work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10728655" cy="150876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REAL-WORLD INCIDENT COMPARISON: LEGACY IT SUPPORT VS DEBUG THUGS AUTONOMOUS HEALING</a:t>
            </a:r>
          </a:p>
          <a:p>
            <a:pPr>
              <a:spcBef>
                <a:spcPts val="400"/>
              </a:spcBef>
              <a:defRPr sz="1000">
                <a:solidFill>
                  <a:srgbClr val="EF4444"/>
                </a:solidFill>
              </a:defRPr>
            </a:pPr>
            <a:r>
              <a:t>❌ LEGACY SUPPORT:  Crash Incurred ➜ Sift 100,000 Event Logs ➜ Search 15 Forum Threads ➜ Run Unverified Script ➜ Corrupt Hive ➜ 3.5h Downtime ➜ Re-Image OS</a:t>
            </a:r>
          </a:p>
          <a:p>
            <a:pPr>
              <a:spcBef>
                <a:spcPts val="400"/>
              </a:spcBef>
              <a:defRPr sz="1050" b="1">
                <a:solidFill>
                  <a:srgbClr val="10B981"/>
                </a:solidFill>
              </a:defRPr>
            </a:pPr>
            <a:r>
              <a:t>✅ DEBUG THUGS:  Crash Ingested ➜ Safe Read-Only Probes (icacls/services) ➜ Grounded Fix Synthesis ➜ Human Gate Approval ➜ Rollback Ready (42s MTTR)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FUTURE IMPACT: 85% MTTR Collapse  |  100% Pre-Fix Snapshot Safety  |  Zero Bricked Endpoints  |  $65B Market Disruption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HACK THE FUTURE 3.0  •  ROUND 1 NATIONAL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SELF-HEALING OS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310896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CRITERION 2 • PROPOSED SOLUTION &amp;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Debug Thugs: Autonomous Self-Healing OS Agent &amp; 1-Word UX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An end-to-end intelligent diagnostic &amp; remediation loop turning hours of IT panic into a single 'fix' command.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42032" cy="3063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PHASE 01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Context &amp; Ingestion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Ingests live Windows Event Viewer logs (System, App, WindowsUpdateClient).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Captures CPU, RAM, Disk handles, ACLs, and registry metadata.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Enforces Admin/NT AUTHORITY privilege verification with safety gates.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3063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PHASE 02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AI Probe Reasoner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Multi-stage cognitive loop: Formulates targeted diagnostic hypotheses.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Dispatches safe read-only exploratory probes (icacls, Get-Service, sc query).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Ingests live probe outputs as empirical ground truth to isolate exact 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91640"/>
            <a:ext cx="2542032" cy="3063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EC4899"/>
                </a:solidFill>
              </a:defRPr>
            </a:pPr>
            <a:r>
              <a:t>PHASE 03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Safety Gate &amp; Synthesis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Synthesizes minimal-blast-radius atomic PowerShell repair scripts.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Renders syntax-highlighted code in Monokai terminal theme with blast preview.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Strict Human-in-the-Loop approval gate ([y/N] prompt mandatory).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91640"/>
            <a:ext cx="2542032" cy="3063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PHASE 04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Snapshot &amp; Rollback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Captures pre-fix snapshot into .backups/ with auto-synthesized inverse script.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Executes fix in temporary isolated sandbox with guaranteed unlinking.</a:t>
            </a:r>
          </a:p>
          <a:p>
            <a:pPr>
              <a:spcBef>
                <a:spcPts val="600"/>
              </a:spcBef>
              <a:defRPr sz="960">
                <a:solidFill>
                  <a:srgbClr val="E2E8F0"/>
                </a:solidFill>
              </a:defRPr>
            </a:pPr>
            <a:r>
              <a:t>• 1-Click deterministic instant rollback: python agent.py rollback or fix rollback.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19472"/>
            <a:ext cx="10728655" cy="1389888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 rIns="228600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THE 1-WORD USER EXPERIENCE: ACCESSIBLE FROM NON-TECH CITIZENS TO ENTERPRISE SYSADMINS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⚡ 1-Word CLI 'fix': Non-technical users simply launch 'fix' to access an interactive 15-point diagnostic selector, adware cleaner, or automated doctor.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🛡️ Zero-Install Cloud WinRE Recovery: Boot directly inside Windows Recovery Environment via `irm ... | iex` with ~15MB portable runtime and zero dependencies.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HACK THE FUTURE 3.0  •  ROUND 1 NATIONAL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SELF-HEALING OS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310896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CRITERION 3 • INNOVATION &amp; FUTURE UNIQUENESS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Architectural Innovations: Hybrid Edge-Cloud LLM, Safe Snapshots &amp; Web3 Audit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Transcend blind LLM chatbots and static scripts with grounded reasoning, air-gapped models, and blockchain consensus.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46177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CORE ARCHITECTURAL INNOVATIONS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1. Dynamic Grounded Probing (Zero Hallucination)</a:t>
            </a:r>
          </a:p>
          <a:p>
            <a:pPr>
              <a:spcBef>
                <a:spcPts val="200"/>
              </a:spcBef>
              <a:defRPr sz="930">
                <a:solidFill>
                  <a:srgbClr val="E2E8F0"/>
                </a:solidFill>
              </a:defRPr>
            </a:pPr>
            <a:r>
              <a:t>Unlike ChatGPT which guesses scripts blindly, Debug Thugs executes safe read-only queries (e.g. icacls, sc query) before synthesizing code. Fixes are grounded in live system facts.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2. Hybrid Edge-Cloud LLM Topology</a:t>
            </a:r>
          </a:p>
          <a:p>
            <a:pPr>
              <a:spcBef>
                <a:spcPts val="200"/>
              </a:spcBef>
              <a:defRPr sz="930">
                <a:solidFill>
                  <a:srgbClr val="E2E8F0"/>
                </a:solidFill>
              </a:defRPr>
            </a:pPr>
            <a:r>
              <a:t>Runs 100% offline and air-gapped via local Ollama models (Llama 3.1, Mistral) for privacy and zero latency, or escalates to Cloud GPT-4o for complex zero-day failure analysis.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3. Deterministic Pre-Fix Snapshots &amp; Inverse Scripts</a:t>
            </a:r>
          </a:p>
          <a:p>
            <a:pPr>
              <a:spcBef>
                <a:spcPts val="200"/>
              </a:spcBef>
              <a:defRPr sz="930">
                <a:solidFill>
                  <a:srgbClr val="E2E8F0"/>
                </a:solidFill>
              </a:defRPr>
            </a:pPr>
            <a:r>
              <a:t>Captures exact pre-modification state into .backups/ with an auto-synthesized inverse script. If anything behaves unexpectedly, instant revert via `python agent.py rollback`.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4. Immutable Algorand Web3 Ledger Consensus</a:t>
            </a:r>
          </a:p>
          <a:p>
            <a:pPr>
              <a:spcBef>
                <a:spcPts val="200"/>
              </a:spcBef>
              <a:defRPr sz="930">
                <a:solidFill>
                  <a:srgbClr val="E2E8F0"/>
                </a:solidFill>
              </a:defRPr>
            </a:pPr>
            <a:r>
              <a:t>Pioneering blockchain integrity in OS diagnostics. SHA-256 cryptographic hashes of telemetry, hypothesis, and applied fix are anchored to Algorand TestNet, verified live on AlgoKit Lora.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691640"/>
            <a:ext cx="5760720" cy="46177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2860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HEAD-TO-HEAD COMPETITIVE BENCHMARK MATRIX</a:t>
            </a:r>
          </a:p>
          <a:p>
            <a:pPr>
              <a:spcBef>
                <a:spcPts val="800"/>
              </a:spcBef>
              <a:defRPr sz="1019" b="1">
                <a:solidFill>
                  <a:srgbClr val="F59E0B"/>
                </a:solidFill>
              </a:defRPr>
            </a:pPr>
            <a:r>
              <a:t>Capability                | Windows SFC/DISM | ChatGPT / Web | Debug Thugs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  <a:latin typeface="Consolas"/>
              </a:defRPr>
            </a:pPr>
            <a:r>
              <a:t>Live Event Viewer Ingestion | ❌ None (Static scan) | ❌ None (Blind) | ✅ Auto Ingested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  <a:latin typeface="Consolas"/>
              </a:defRPr>
            </a:pPr>
            <a:r>
              <a:t>Active System Probing      | ❌ Fixed heuristics | ❌ No execution | ✅ Dynamic Read-Only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  <a:latin typeface="Consolas"/>
              </a:defRPr>
            </a:pPr>
            <a:r>
              <a:t>Destructive Command Filter | ⚠️ None          | ❌ None        | ✅ Regex AST Guard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  <a:latin typeface="Consolas"/>
              </a:defRPr>
            </a:pPr>
            <a:r>
              <a:t>Pre-Fix State Snapshot     | ❌ Irreversible   | ❌ None        | ✅ 100% Snapshot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  <a:latin typeface="Consolas"/>
              </a:defRPr>
            </a:pPr>
            <a:r>
              <a:t>Instant 1-Click Rollback   | ❌ System Restore Only | ❌ None        | ✅ 1-Click Deterministic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  <a:latin typeface="Consolas"/>
              </a:defRPr>
            </a:pPr>
            <a:r>
              <a:t>Air-Gapped / Offline LLM   | ❌ N/A            | ❌ Cloud only  | ✅ Local Ollama Edge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  <a:latin typeface="Consolas"/>
              </a:defRPr>
            </a:pPr>
            <a:r>
              <a:t>WinRE Cloud Bootstrapping  | ❌ Needs USB/Media | ❌ No offline run | ✅ 1-Line irm | iex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  <a:latin typeface="Consolas"/>
              </a:defRPr>
            </a:pPr>
            <a:r>
              <a:t>Web3 Cryptographic Proof   | ❌ Ephemeral logs | ❌ None        | ✅ Algorand Blockchain</a:t>
            </a:r>
          </a:p>
          <a:p>
            <a:pPr>
              <a:spcBef>
                <a:spcPts val="1000"/>
              </a:spcBef>
              <a:defRPr sz="930" b="1">
                <a:solidFill>
                  <a:srgbClr val="10B981"/>
                </a:solidFill>
              </a:defRPr>
            </a:pPr>
            <a:r>
              <a:t>VERDICT: Debug Thugs is the only platform uniting grounded autonomous reasoning, air-gapped local execution, reversible safety, and Web3 cryptographic proof.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HACK THE FUTURE 3.0  •  ROUND 1 NATIONAL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SELF-HEALING OS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310896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CRITERION 4 • TECHNOLOGY &amp;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4-Tier Agentic Architecture: Ingestion ➔ Reasoning ➔ Sandbox ➔ Algorand Consensus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 defense-in-depth engineering stack with strict AST guards, Pydantic schemas, temporary sandboxes, and blockchain consensus.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1078992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9144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TIER 1: TELEMETRY INGESTION &amp; PRIVILEGE ENFORCEMENT ENGINE  [core/collector.py  •  core/security.py  •  core/system_paths.py]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Extracts live Windows Event Viewer logs via native wevtutil across System, Application, and WindowsUpdateClient. Validates Administrator/NT AUTHORITY token elevation. Formulates normalized diagnostic payload (context.json) with CPU, RAM, Disk handles, and service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728655" cy="1078992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9144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TIER 2: MULTI-STAGE HYBRID REASONER &amp; DYNAMIC PROBING ENGINE  [core/llm.py  •  core/executor.py  •  GPT-4o  /  Ollama (Llama 3.1, Mistral)]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4-Stage Cognitive Loop: Hypothesis Formulation ➜ Read-Only Probe Generation ➜ Empirical Probe Execution ➜ PowerShell Remediation Synthesis. Features AST Safety Guard blocking destructive verbs (del, format, Remove-Item, reg delete) and Pydantic schema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10728655" cy="1078992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9144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TIER 3: SNAPSHOT ENGINE, HUMAN APPROVAL GATE &amp; SANDBOX EXECUTION  [core/snapshot.py  •  core/remediation.py  •  core/ui.py]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Captures atomic pre-fix ACL/registry states into .backups/session_id/ with auto-synthesized inverse undo scripts. Renders Monokai syntax-highlighted code with estimated blast radius. Enforces mandatory [y/N] Human-in-the-Loop gate; executes in temporary sandbox with guaranteed unlinking.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0728655" cy="1078992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91440"/>
          <a:lstStyle/>
          <a:p>
            <a:pPr algn="ctr">
              <a:defRPr sz="1100" b="1">
                <a:solidFill>
                  <a:srgbClr val="EC4899"/>
                </a:solidFill>
              </a:defRPr>
            </a:pPr>
            <a:r>
              <a:t>TIER 4: POST-FIX VERIFICATION &amp; ALGORAND CONSENSUS ANCHORING  [core/blockchain.py  •  core/autostart.py  •  Algorand TestNet  /  AlgoKit Lora]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Verifies remediation health against original symptoms; registers RunOnce reboot hooks if required. Computes SHA-256 Merkle root of complete diagnostic session (logs, hypothesis, code, execution outcome) and broadcasts immutable transaction proof note to Algorand TestNet.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HACK THE FUTURE 3.0  •  ROUND 1 NATIONAL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SELF-HEALING OS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310896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CRITERION 5 • TARGET USERS &amp; MARKET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Multi-Tier Market Penetration: From Non-Tech Citizens to Enterprise Fleets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Tailored operational archetypes across B2C consumers, developers, MSPs, and regulated enterprise compliance.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1. B2C Everyday Consumers &amp; Students  [MASS MARKET (B2C)]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🚨 Pain Point: Intimidated by cryptic errors, blue screens, and stuck updates. Vulnerable to predatory tech-support scams charging $100+.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✨ Value Delivered: 1-Word CLI `fix`, guided 1-15 interactive menu, 1-click adware cleaning, and automated rollback guarantee zero risk of bricking.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2. B2B IT Managed Service Providers (MSPs)  [HIGH VOLUME B2B]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🚨 Pain Point: Drowning in repetitive Tier-1/2 tickets (update stalls, DLL errors); slow 3.5h MTTR per seat; costly engineer turnover.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✨ Value Delivered: Autonomous root-cause diagnosis, 45-second remediation, silent headless fleet execution, cutting helpdesk ticket volume by up to 60%.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30368" cy="2194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/>
          <a:lstStyle/>
          <a:p>
            <a:pPr algn="ctr">
              <a:defRPr sz="1200" b="1">
                <a:solidFill>
                  <a:srgbClr val="EC4899"/>
                </a:solidFill>
              </a:defRPr>
            </a:pPr>
            <a:r>
              <a:t>3. Enterprise Compliance &amp; SecOps Teams  [REGULATED B2B]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🚨 Pain Point: Blind troubleshooting scripts violate SOC2/HIPAA audit trails; risk of unvetted registry changes and lateral security compromise.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✨ Value Delivered: Immutable Algorand on-chain audit logs; strict AST destructive command blacklists; verifiable cryptographic accountability for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4069080"/>
            <a:ext cx="5230368" cy="2194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4. Developers, DevOps &amp; Edge Kiosks  [POWER USERS &amp; EDGE]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🚨 Pain Point: Broken PATH variables, Docker/WSL2 corruption, port conflicts, and unstaffed rural kiosks offline for weeks awaiting tech visits.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✨ Value Delivered: Instant terminal diagnostic switches (`agent.py diagnose 0x...`), 100% offline air-gapped Ollama execution, and 1-line WinRE recovery.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HACK THE FUTURE 3.0  •  ROUND 1 NATIONAL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SELF-HEALING OS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310896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CRITERIA 6 &amp; 7 • FEASIBILITY &amp; LIVE PRODUCTION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Empirical Feasibility &amp; Live Battle-Tested Validation Matrix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100% functional codebase with live error injection harnesses, automated test matrices, and Algorand TestNet consensus.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389120" cy="46177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ENGINEERING FEASIBILITY PILLARS</a:t>
            </a:r>
          </a:p>
          <a:p>
            <a:pPr>
              <a:spcBef>
                <a:spcPts val="600"/>
              </a:spcBef>
              <a:defRPr sz="1080" b="1">
                <a:solidFill>
                  <a:srgbClr val="F8FAFC"/>
                </a:solidFill>
              </a:defRPr>
            </a:pPr>
            <a:r>
              <a:t>✔ Zero Heavy Dependencies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Built on Python 3.10+, utilizing standard OS subprocesses and native Windows APIs (WMI, wevtutil, win32). No Docker or heavy VMs required.</a:t>
            </a:r>
          </a:p>
          <a:p>
            <a:pPr>
              <a:spcBef>
                <a:spcPts val="600"/>
              </a:spcBef>
              <a:defRPr sz="1080" b="1">
                <a:solidFill>
                  <a:srgbClr val="F8FAFC"/>
                </a:solidFill>
              </a:defRPr>
            </a:pPr>
            <a:r>
              <a:t>✔ Built-In Error Injection Harness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Shipped with inject_test_error.bat and cleanup_test_error.bat for deterministic, repeatable end-to-end evaluation.</a:t>
            </a:r>
          </a:p>
          <a:p>
            <a:pPr>
              <a:spcBef>
                <a:spcPts val="600"/>
              </a:spcBef>
              <a:defRPr sz="1080" b="1">
                <a:solidFill>
                  <a:srgbClr val="F8FAFC"/>
                </a:solidFill>
              </a:defRPr>
            </a:pPr>
            <a:r>
              <a:t>✔ 100% Offline Air-Gapped Viability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Functions seamlessly in air-gapped networks via local Ollama models (Llama 3.1, Mistral) and deterministic heuristic rules.</a:t>
            </a:r>
          </a:p>
          <a:p>
            <a:pPr>
              <a:spcBef>
                <a:spcPts val="600"/>
              </a:spcBef>
              <a:defRPr sz="1080" b="1">
                <a:solidFill>
                  <a:srgbClr val="F8FAFC"/>
                </a:solidFill>
              </a:defRPr>
            </a:pPr>
            <a:r>
              <a:t>✔ Ultra-Lightweight WinRE Bootstrap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Single 15MB portable runtime runs directly inside Windows Recovery Environment Command Prompt over RAM with zero setup.</a:t>
            </a:r>
          </a:p>
          <a:p>
            <a:pPr>
              <a:spcBef>
                <a:spcPts val="600"/>
              </a:spcBef>
              <a:defRPr sz="1080" b="1">
                <a:solidFill>
                  <a:srgbClr val="F8FAFC"/>
                </a:solidFill>
              </a:defRPr>
            </a:pPr>
            <a:r>
              <a:t>✔ Strict Fail-Safe Defaults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All commands validate permissions; destructive probes are regex blocked; non-zero exits abort safely to pre-fix snapshot.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691640"/>
            <a:ext cx="6110935" cy="46177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LIVE ERROR INJECTOR &amp; TEST MATRIX VALIDATION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Scenario A: Windows Update Error 0x80070005 (Access Denied)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Injected corrupted ACL permissions on SoftwareDistribution directory via inject_test_error.bat. Agent probed security via icacls, isolated denial, proposed atomic ACL reset, and verified service state in 42 seconds.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Scenario B: Adware &amp; Malicious Web Notifications Purge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Scanned Google Chrome &amp; Microsoft Edge browser user profiles. Identified and neutralized 14 suspicious background notification hooks and persistent startup adware in 2.4 seconds with zero user data loss.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Scenario C: Deterministic 1-Click Rollback Integrity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Applied a mock registry and service fix. Triggered `python agent.py rollback`. System restored exact original file hashes and registry values with 100% byte-for-byte verification fidelity.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Scenario D: Algorand TestNet Live Blockchain Consensus Proof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Submitted session SHA-256 Merkle root to Algorand TestNet. Live transaction confirmed in 3.6 seconds, publicly verifiable on AlgoKit Lora explorer with immutable cryptographic timestamp.</a:t>
            </a:r>
          </a:p>
          <a:p>
            <a:pPr>
              <a:spcBef>
                <a:spcPts val="800"/>
              </a:spcBef>
              <a:defRPr sz="950" b="1">
                <a:solidFill>
                  <a:srgbClr val="06B6D4"/>
                </a:solidFill>
              </a:defRPr>
            </a:pPr>
            <a:r>
              <a:t>⚡ PERFORMANCE: Telemetry Ingest: 1.8s | Reasoner Probe: 4.2s | Total MTTR: &lt; 45s (vs 3.5h manual legacy)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HACK THE FUTURE 3.0  •  ROUND 1 NATIONAL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SELF-HEALING OS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310896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CRITERION 8 • SCALABILITY &amp; CROSS-PLATFORM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Scale Horizon: From Standalone Edge to Enterprise Fleet &amp; Decentralized Mesh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 4-phase architectural trajectory expanding from Windows endpoints to Linux eBPF, macOS APFS, and decentralized mesh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160020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HORIZONTAL FLEET SCALABILITY &amp; DISTRIBUTED AGENTIC MESH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• Decoupled Micro-Engines: Ingestion, Probing, Reasoning, Snapshotting, and Blockchain anchoring communicate via standardized JSON schemas, enabling independent microservice scaling.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</a:defRPr>
            </a:pPr>
            <a:r>
              <a:t>• Centralized Telemetry Aggregation: Fleet Agent daemon streams anonymized error clusters to enterprise SIEM (Splunk/Elasticsearch), enabling proactive fleet-wide auto-patching.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</a:defRPr>
            </a:pPr>
            <a:r>
              <a:t>• Decentralized Knowledge Mesh: Global fleet instances share anonymized diagnostic fingerprints via Web3 consensus to proactively patch emerging zero-day OS defects.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542032" cy="28346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050" b="1">
                <a:solidFill>
                  <a:srgbClr val="06B6D4"/>
                </a:solidFill>
              </a:defRPr>
            </a:pPr>
            <a:r>
              <a:t>PHASE 1 (CURRENT)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</a:defRPr>
            </a:pPr>
            <a:r>
              <a:t>Windows Core &amp; WinRE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Windows 10/11 &amp; Server support.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Event Viewer telemetry extraction.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1-Line WinRE cloud bootstrapper.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Algorand TestNet anchor engine.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Interactive 1-Word `fix` CLI.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474720"/>
            <a:ext cx="2542032" cy="28346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PHASE 2 (Q2 2026)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</a:defRPr>
            </a:pPr>
            <a:r>
              <a:t>Linux Kernel &amp; eBPF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journalctl, dmesg &amp; syslog ingestion.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eBPF dynamic kernel trace probes.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Btrfs / ZFS atomic snapshots.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Apt / Dnf / Pacman package repair.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Headless server &amp; K8s node daemon.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474720"/>
            <a:ext cx="2542032" cy="28346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PHASE 3 (Q3 2026)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</a:defRPr>
            </a:pPr>
            <a:r>
              <a:t>macOS Darwin &amp; APFS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macOS Unified Logging System.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Launchd daemon and service healer.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Apple SIP integrity compliance.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APFS snapshot-backed rollback.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Homebrew / Rosetta 2 diagnosis.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3474720"/>
            <a:ext cx="2542032" cy="28346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050" b="1">
                <a:solidFill>
                  <a:srgbClr val="EC4899"/>
                </a:solidFill>
              </a:defRPr>
            </a:pPr>
            <a:r>
              <a:t>PHASE 4 (Q4 2026)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</a:defRPr>
            </a:pPr>
            <a:r>
              <a:t>Enterprise SaaS &amp; Mesh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Multi-tenant SaaS console &amp; RBAC.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Automated silent fleet patch rollout.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Enterprise SIEM &amp; SSO integration.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Decentralized Web3 knowledge mesh.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SOC2 Type II &amp; HIPAA audit suite.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HACK THE FUTURE 3.0  •  ROUND 1 NATIONAL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SELF-HEALING OS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310896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CRITERION 9 • IMPACT, BUSINESS MODEL &amp; STARTUP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Quantified Impact, B2B SaaS Monetization &amp; $1.2M Enterprise ROI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Transforming a $65B enterprise support burden into high-margin B2B SaaS with exceptional startup defensibility.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46177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01 | QUANTIFIED ROI &amp; IMPACT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$1.2M Annual ROI / 5,000 Seats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Reduces Tier-1/2 ticket volume by 60%, recovering 15,000+ support hours annually for enterprise IT teams.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85% Reduction in IT MTTR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Allows employees and students to recover from debilitating OS crashes in under 45 seconds instead of waiting days.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Democratized Sysadmin Skills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Brings Tier-3 enterprise engineering capabilities to small businesses, schools, and non-tech citizens globally.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Zero E-Waste from OS Glitches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Prevents usable laptops and desktop hardware from being prematurely discarded due to corrupt bootloaders or registry hives.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91640"/>
            <a:ext cx="3429000" cy="46177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02 | MONETIZATION &amp; B2B SAAS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Free Community Edition (Open Source)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Core CLI agent, local Ollama LLM support, standard diagnostic probes, manual rollback.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Pro / Freelancer ($4.99 / ₹399 mo)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Cloud GPT-4o fast-path, automated adware cleaner, cloud backup synchronization, priority fixes.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Enterprise Fleet SaaS ($4/seat/mo)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Centralized IT web dashboard, automated silent fleet health runs, RBAC, Algorand compliance proofs.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MSP Partner Program (Rev Share)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White-label agent for IT Managed Service Providers managing 100,000+ client workstations.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691640"/>
            <a:ext cx="3429000" cy="46177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250" b="1">
                <a:solidFill>
                  <a:srgbClr val="EC4899"/>
                </a:solidFill>
              </a:defRPr>
            </a:pPr>
            <a:r>
              <a:t>03 | MARKET &amp; STARTUP POTENTIAL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TAM: $65 Billion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Global IT Service Desk, Endpoint Management, and Autonomous Remediation software market.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SAM: $14.2 Billion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Mid-market enterprises and MSPs actively adopting AI-driven IT automation.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SOM: $380 Million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Target market initial 3-year reach across IT services, MSPs, educational institutions, and developers.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High Defensibility &amp; Moat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Patentable multi-stage probing feedback loop + proprietary diagnostic knowledge graph + Algorand audit consensus.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2D3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HACK THE FUTURE 3.0  •  ROUND 1 NATIONAL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SELF-HEALING OS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